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40105e35-5497-8fff-5d75-3d05b6ed5de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9DB4B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4B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4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6F6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71.33</c:v>
                </c:pt>
                <c:pt idx="1">
                  <c:v>64</c:v>
                </c:pt>
                <c:pt idx="2">
                  <c:v>71.22</c:v>
                </c:pt>
                <c:pt idx="3">
                  <c:v>72.58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E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DARK_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6F6C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914400"/>
            <a:ext cx="65836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50976"/>
            <a:ext cx="731520" cy="54864"/>
          </a:xfrm>
          <a:prstGeom prst="rect">
            <a:avLst/>
          </a:prstGeom>
          <a:solidFill>
            <a:srgbClr val="EF6F6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9896"/>
                </a:solidFill>
              </a:rPr>
              <a:t>Explainable Cardiovascular Risk Prediction</a:t>
            </a:r>
            <a:endParaRPr lang="en-US" sz="8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0E2A2F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98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6F6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50976"/>
            <a:ext cx="73152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9896"/>
                </a:solidFill>
              </a:rPr>
              <a:t>Explainable Cardiovascular Risk Prediction</a:t>
            </a:r>
            <a:endParaRPr lang="en-US" sz="8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98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98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9144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Explainable Machine Learning for Cardiovascular Risk Prediction Using Random Forest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926080"/>
            <a:ext cx="7863840" cy="731520"/>
          </a:xfrm>
          <a:custGeom>
            <a:avLst/>
            <a:gdLst/>
            <a:ahLst/>
            <a:cxnLst/>
            <a:rect l="l" t="t" r="r" b="b"/>
            <a:pathLst>
              <a:path w="7863840" h="731520">
                <a:moveTo>
                  <a:pt x="0" y="365760"/>
                </a:moveTo>
                <a:lnTo>
                  <a:pt x="2926080" y="365760"/>
                </a:lnTo>
                <a:lnTo>
                  <a:pt x="3200400" y="45720"/>
                </a:lnTo>
                <a:lnTo>
                  <a:pt x="3566160" y="731520"/>
                </a:lnTo>
                <a:lnTo>
                  <a:pt x="3840480" y="365760"/>
                </a:lnTo>
                <a:lnTo>
                  <a:pt x="7863840" y="365760"/>
                </a:lnTo>
              </a:path>
            </a:pathLst>
          </a:custGeom>
          <a:solidFill>
            <a:srgbClr val="0E2A2F">
              <a:alpha val="0"/>
            </a:srgbClr>
          </a:solidFill>
          <a:ln w="31750">
            <a:solidFill>
              <a:srgbClr val="EF6F6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E3DF"/>
                </a:solidFill>
              </a:rPr>
              <a:t>by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Ayusha Das (2520039624)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2F"/>
                </a:solidFill>
              </a:rPr>
              <a:t>Abstract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1371600"/>
            <a:ext cx="27432" cy="3017520"/>
          </a:xfrm>
          <a:prstGeom prst="rect">
            <a:avLst/>
          </a:prstGeom>
          <a:solidFill>
            <a:srgbClr val="B9D6D1"/>
          </a:solidFill>
          <a:ln w="12700">
            <a:solidFill>
              <a:srgbClr val="B9D6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" y="1280160"/>
            <a:ext cx="365760" cy="365760"/>
          </a:xfrm>
          <a:prstGeom prst="ellipse">
            <a:avLst/>
          </a:prstGeom>
          <a:solidFill>
            <a:srgbClr val="EF6F6C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887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F"/>
                </a:solidFill>
              </a:rPr>
              <a:t>Heart disease is a major health concern, and spotting at-risk patients early gives doctors a chance to step in on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" y="1993392"/>
            <a:ext cx="365760" cy="365760"/>
          </a:xfrm>
          <a:prstGeom prst="ellipse">
            <a:avLst/>
          </a:prstGeom>
          <a:solidFill>
            <a:srgbClr val="0F8B8D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90195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F"/>
                </a:solidFill>
              </a:rPr>
              <a:t>In this project, we use structured patient health data to predict cardiovascular risk.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" y="2706624"/>
            <a:ext cx="365760" cy="365760"/>
          </a:xfrm>
          <a:prstGeom prst="ellipse">
            <a:avLst/>
          </a:prstGeom>
          <a:solidFill>
            <a:srgbClr val="EF6F6C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1518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F"/>
                </a:solidFill>
              </a:rPr>
              <a:t>We start with Exploratory Data Analysis (EDA) to check the quality of the data and see how the patient attributes relate to each other.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" y="3419856"/>
            <a:ext cx="365760" cy="365760"/>
          </a:xfrm>
          <a:prstGeom prst="ellipse">
            <a:avLst/>
          </a:prstGeom>
          <a:solidFill>
            <a:srgbClr val="0F8B8D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32841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F"/>
                </a:solidFill>
              </a:rPr>
              <a:t>Four classification models are then compared: Logistic Regression, Decision Tree, Random Forest and XGBoost.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" y="4133088"/>
            <a:ext cx="365760" cy="365760"/>
          </a:xfrm>
          <a:prstGeom prst="ellipse">
            <a:avLst/>
          </a:prstGeom>
          <a:solidFill>
            <a:srgbClr val="EF6F6C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04164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F"/>
                </a:solidFill>
              </a:rPr>
              <a:t>Random Forest is used to find the most important features, and SHAP explains the predictions both across the whole dataset and for individual patients.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98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2F"/>
                </a:solidFill>
              </a:rPr>
              <a:t>Problem Statement &amp; Case-Based Scenario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" cy="32004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23444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0E2A2F"/>
                </a:solidFill>
              </a:rPr>
              <a:t>Machine learning can predict cardiovascular disease from patient health data, but a prediction alone doesn't tell us why a patient was flagged as at risk.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0E2A2F"/>
                </a:solidFill>
              </a:rPr>
              <a:t>Imagine a healthcare organization that wants to study its past patient records and identify who is at risk of cardiovascular disease.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E2A2F"/>
                </a:solidFill>
              </a:rPr>
              <a:t>The doctors and staff using the system also need clear reasons behind each individual prediction.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94960" y="1234440"/>
            <a:ext cx="3291840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94960" y="1234440"/>
            <a:ext cx="73152" cy="20116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8B8D"/>
                </a:solidFill>
              </a:rPr>
              <a:t>INPUTS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6916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E2A2F"/>
                </a:solidFill>
              </a:rPr>
              <a:t>Age, gender, height, weight, blood pressure, cholesterol, glucose, smoking, alcohol use and physical activity.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94960" y="338328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EF6F6C"/>
          </a:solidFill>
          <a:ln w="9525">
            <a:solidFill>
              <a:srgbClr val="EF6F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3493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OUTPUT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37673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 cardiovascular disease prediction, along with the key factors that led to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98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2F"/>
                </a:solidFill>
              </a:rPr>
              <a:t>Existing System – Research Paper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874520" cy="320040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34440"/>
            <a:ext cx="1874520" cy="914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1508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2A2F"/>
                </a:solidFill>
              </a:rPr>
              <a:t>Existing research on explainable ML already pairs cardiovascular risk prediction with ways of interpreting the model.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1234440"/>
            <a:ext cx="1874520" cy="320040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234440"/>
            <a:ext cx="1874520" cy="914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508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94560"/>
            <a:ext cx="1508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2A2F"/>
                </a:solidFill>
              </a:rPr>
              <a:t>The paper we referred to compares several machine learning models and uses SHAP to explain what drives each prediction.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1874520" cy="320040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234440"/>
            <a:ext cx="1874520" cy="914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508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194560"/>
            <a:ext cx="1508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2A2F"/>
                </a:solidFill>
              </a:rPr>
              <a:t>A common problem with many ML models is that it's hard for users to understand how they reach their decisions.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1234440"/>
            <a:ext cx="1874520" cy="320040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1234440"/>
            <a:ext cx="1874520" cy="914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508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194560"/>
            <a:ext cx="1508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2A2F"/>
                </a:solidFill>
              </a:rPr>
              <a:t>Our project modifies this approach by using the Kaggle cardiovascular dataset directly, comparing Logistic Regression, Decision Tree, Random Forest and XGBoost, and focusing on Random Forest feature importance and SHAP-based patient-level explanations.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98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2F"/>
                </a:solidFill>
              </a:rPr>
              <a:t>Proposed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6040" cy="15087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34440"/>
            <a:ext cx="73152" cy="15087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2A2F"/>
                </a:solidFill>
              </a:rPr>
              <a:t>We use the Kaggle Cardiovascular Disease Dataset, which has 70,000 patient records.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234440"/>
            <a:ext cx="2606040" cy="15087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234440"/>
            <a:ext cx="73152" cy="15087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371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2A2F"/>
                </a:solidFill>
              </a:rPr>
              <a:t>We carry out hands-on EDA and look for data-quality problems before building any model.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234440"/>
            <a:ext cx="2606040" cy="15087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234440"/>
            <a:ext cx="73152" cy="15087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371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2A2F"/>
                </a:solidFill>
              </a:rPr>
              <a:t>We then compare Logistic Regression, Decision Tree, Random Forest and XGBoost.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2606040" cy="15087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880360"/>
            <a:ext cx="73152" cy="15087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429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2A2F"/>
                </a:solidFill>
              </a:rPr>
              <a:t>Random Forest is used to find which features matter most.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2880360"/>
            <a:ext cx="2606040" cy="15087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2880360"/>
            <a:ext cx="73152" cy="15087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3429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2A2F"/>
                </a:solidFill>
              </a:rPr>
              <a:t>SHAP is used to explain predictions for the whole dataset and for individual patients.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2880360"/>
            <a:ext cx="2606040" cy="15087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2880360"/>
            <a:ext cx="73152" cy="15087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429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2A2F"/>
                </a:solidFill>
              </a:rPr>
              <a:t>The result is a cardiovascular risk prediction workflow that is easier to understand and trust.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98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2F"/>
                </a:solidFill>
              </a:rPr>
              <a:t>Dataset &amp; Exploratory Data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0E2A2F"/>
          </a:solidFill>
          <a:ln w="9525">
            <a:solidFill>
              <a:srgbClr val="0E2A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9844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70,000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01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rows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0" y="123444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0E2A2F"/>
          </a:solidFill>
          <a:ln w="9525">
            <a:solidFill>
              <a:srgbClr val="0E2A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9844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901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columns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0E2A2F"/>
          </a:solidFill>
          <a:ln w="9525">
            <a:solidFill>
              <a:srgbClr val="0E2A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29844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901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missing values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23444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0E2A2F"/>
          </a:solidFill>
          <a:ln w="9525">
            <a:solidFill>
              <a:srgbClr val="0E2A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29844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1901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duplicate rows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8001000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2606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6F6C"/>
                </a:solidFill>
              </a:rPr>
              <a:t>DATASET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620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2F"/>
                </a:solidFill>
              </a:rPr>
              <a:t>The Cardiovascular Disease Dataset from Kaggle.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2606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6F6C"/>
                </a:solidFill>
              </a:rPr>
              <a:t>TARGET VARIABLE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28620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2F"/>
                </a:solidFill>
              </a:rPr>
              <a:t>cardio (0 = no cardiovascular disease, 1 = cardiovascular disease).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6F6C"/>
                </a:solidFill>
              </a:rPr>
              <a:t>EDA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7764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2F"/>
                </a:solidFill>
              </a:rPr>
              <a:t>We looked at distributions, categorical features and correlations, calculated BMI, and checked for outliers.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6F6C"/>
                </a:solidFill>
              </a:rPr>
              <a:t>FINDING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37764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2F"/>
                </a:solidFill>
              </a:rPr>
              <a:t>EDA also flagged some suspicious blood-pressure values that had to be cleaned up during preprocessing.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98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2F"/>
                </a:solidFill>
              </a:rPr>
              <a:t>Preprocessing &amp; Algorithms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234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2F"/>
                </a:solidFill>
              </a:rPr>
              <a:t>We removed 29 records that had invalid blood-pressure values (zero or negative).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886200" cy="18288"/>
          </a:xfrm>
          <a:prstGeom prst="rect">
            <a:avLst/>
          </a:prstGeom>
          <a:solidFill>
            <a:srgbClr val="B9D6D1"/>
          </a:solidFill>
          <a:ln w="12700">
            <a:solidFill>
              <a:srgbClr val="B9D6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31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2F"/>
                </a:solidFill>
              </a:rPr>
              <a:t>Age was converted from days into years, and BMI was calculated from height and weight.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886200" cy="18288"/>
          </a:xfrm>
          <a:prstGeom prst="rect">
            <a:avLst/>
          </a:prstGeom>
          <a:solidFill>
            <a:srgbClr val="B9D6D1"/>
          </a:solidFill>
          <a:ln w="12700">
            <a:solidFill>
              <a:srgbClr val="B9D6D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429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2F"/>
                </a:solidFill>
              </a:rPr>
              <a:t>The ID column was dropped, since it only identifies a record and doesn't help in prediction.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3886200" cy="18288"/>
          </a:xfrm>
          <a:prstGeom prst="rect">
            <a:avLst/>
          </a:prstGeom>
          <a:solidFill>
            <a:srgbClr val="B9D6D1"/>
          </a:solidFill>
          <a:ln w="12700">
            <a:solidFill>
              <a:srgbClr val="B9D6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234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1234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2F"/>
                </a:solidFill>
              </a:rPr>
              <a:t>The data was split into 80% for training and 20% for testing.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2103120"/>
            <a:ext cx="3886200" cy="18288"/>
          </a:xfrm>
          <a:prstGeom prst="rect">
            <a:avLst/>
          </a:prstGeom>
          <a:solidFill>
            <a:srgbClr val="B9D6D1"/>
          </a:solidFill>
          <a:ln w="12700">
            <a:solidFill>
              <a:srgbClr val="B9D6D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3317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2331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2F"/>
                </a:solidFill>
              </a:rPr>
              <a:t>Algorithms used: Logistic Regression, Decision Tree, Random Forest and XGBoost.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3886200" cy="18288"/>
          </a:xfrm>
          <a:prstGeom prst="rect">
            <a:avLst/>
          </a:prstGeom>
          <a:solidFill>
            <a:srgbClr val="B9D6D1"/>
          </a:solidFill>
          <a:ln w="12700">
            <a:solidFill>
              <a:srgbClr val="B9D6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34290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429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2F"/>
                </a:solidFill>
              </a:rPr>
              <a:t>Random Forest is our main model for feature importance and SHAP-based explanations.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4297680"/>
            <a:ext cx="3886200" cy="18288"/>
          </a:xfrm>
          <a:prstGeom prst="rect">
            <a:avLst/>
          </a:prstGeom>
          <a:solidFill>
            <a:srgbClr val="B9D6D1"/>
          </a:solidFill>
          <a:ln w="12700">
            <a:solidFill>
              <a:srgbClr val="B9D6D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98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2F"/>
                </a:solidFill>
              </a:rPr>
              <a:t>Model Comparison – Test Accuracy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29200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640080" y="1325880"/>
          <a:ext cx="4846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3444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0E2A2F"/>
          </a:solidFill>
          <a:ln w="9525">
            <a:solidFill>
              <a:srgbClr val="0E2A2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6072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72.58%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148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XGBoost: the highest of all four models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2834640"/>
            <a:ext cx="2788920" cy="164592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2834640"/>
            <a:ext cx="73152" cy="16459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29260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F"/>
                </a:solidFill>
              </a:rPr>
              <a:t>XGBoost scored highest, but Random Forest still matters here because it gives us feature importance and is the model we use for SHAP explanations.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98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2F"/>
                </a:solidFill>
              </a:rPr>
              <a:t>Random Forest Feature Importance &amp; SHAP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2926080"/>
          </a:xfrm>
          <a:prstGeom prst="roundRect">
            <a:avLst>
              <a:gd name="adj" fmla="val 1875"/>
            </a:avLst>
          </a:prstGeom>
          <a:solidFill>
            <a:srgbClr val="0E2A2F"/>
          </a:solidFill>
          <a:ln w="9525">
            <a:solidFill>
              <a:srgbClr val="0E2A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</a:rPr>
              <a:t>MOST IMPORTANT VARIABLES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14600" y="178308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ap_hi (systolic BP)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age_years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14600" y="251460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1460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BMI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24612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weight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14600" y="324612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1460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ap_lo (diastolic BP)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1188720"/>
            <a:ext cx="3977640" cy="2926080"/>
          </a:xfrm>
          <a:prstGeom prst="roundRect">
            <a:avLst>
              <a:gd name="adj" fmla="val 1875"/>
            </a:avLst>
          </a:prstGeom>
          <a:solidFill>
            <a:schemeClr val="bg1"/>
          </a:solidFill>
          <a:ln w="9525">
            <a:solidFill>
              <a:srgbClr val="D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E2A2F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54880" y="1280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8B8D"/>
                </a:solidFill>
              </a:rPr>
              <a:t>Patient-Level SHAP Explanation</a:t>
            </a:r>
            <a:endParaRPr lang="en-US" sz="1250" dirty="0"/>
          </a:p>
        </p:txBody>
      </p:sp>
      <p:pic>
        <p:nvPicPr>
          <p:cNvPr id="19" name="Image 0" descr="/home/claude/s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27632"/>
            <a:ext cx="3429000" cy="243596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48640" y="4251960"/>
            <a:ext cx="8001000" cy="502920"/>
          </a:xfrm>
          <a:prstGeom prst="roundRect">
            <a:avLst>
              <a:gd name="adj" fmla="val 10909"/>
            </a:avLst>
          </a:prstGeom>
          <a:solidFill>
            <a:srgbClr val="EF6F6C"/>
          </a:solidFill>
          <a:ln w="9525">
            <a:solidFill>
              <a:srgbClr val="EF6F6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2519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Keep in mind that feature importance only shows what the model uses, not what actually causes the disease.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98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234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This project covers the full workflow, from analysing a cardiovascular dataset to building ML models and explaining their predictions.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886200" cy="18288"/>
          </a:xfrm>
          <a:prstGeom prst="rect">
            <a:avLst/>
          </a:prstGeom>
          <a:solidFill>
            <a:srgbClr val="2E5A60"/>
          </a:solidFill>
          <a:ln w="12700">
            <a:solidFill>
              <a:srgbClr val="2E5A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31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EDA helped us spot data-quality issues and guided how we preprocessed the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886200" cy="18288"/>
          </a:xfrm>
          <a:prstGeom prst="rect">
            <a:avLst/>
          </a:prstGeom>
          <a:solidFill>
            <a:srgbClr val="2E5A60"/>
          </a:solidFill>
          <a:ln w="12700">
            <a:solidFill>
              <a:srgbClr val="2E5A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429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We implemented and compared four classification algorithms.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3886200" cy="18288"/>
          </a:xfrm>
          <a:prstGeom prst="rect">
            <a:avLst/>
          </a:prstGeom>
          <a:solidFill>
            <a:srgbClr val="2E5A60"/>
          </a:solidFill>
          <a:ln w="12700">
            <a:solidFill>
              <a:srgbClr val="2E5A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234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1234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XGBoost gave the best test accuracy of the four, at 72.58%.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2103120"/>
            <a:ext cx="3886200" cy="18288"/>
          </a:xfrm>
          <a:prstGeom prst="rect">
            <a:avLst/>
          </a:prstGeom>
          <a:solidFill>
            <a:srgbClr val="2E5A60"/>
          </a:solidFill>
          <a:ln w="12700">
            <a:solidFill>
              <a:srgbClr val="2E5A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3317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2331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Random Forest was used to study feature importance and, together with SHAP, to explain the predictions.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3886200" cy="18288"/>
          </a:xfrm>
          <a:prstGeom prst="rect">
            <a:avLst/>
          </a:prstGeom>
          <a:solidFill>
            <a:srgbClr val="2E5A60"/>
          </a:solidFill>
          <a:ln w="12700">
            <a:solidFill>
              <a:srgbClr val="2E5A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34290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429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Overall, our approach aims to make cardiovascular risk predictions easier for users to understand.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4297680"/>
            <a:ext cx="3886200" cy="18288"/>
          </a:xfrm>
          <a:prstGeom prst="rect">
            <a:avLst/>
          </a:prstGeom>
          <a:solidFill>
            <a:srgbClr val="2E5A60"/>
          </a:solidFill>
          <a:ln w="12700">
            <a:solidFill>
              <a:srgbClr val="2E5A6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98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dioTeal">
  <a:themeElements>
    <a:clrScheme name="CardioTeal">
      <a:dk1>
        <a:srgbClr val="0E2A2F"/>
      </a:dk1>
      <a:lt1>
        <a:srgbClr val="FFFFFF"/>
      </a:lt1>
      <a:dk2>
        <a:srgbClr val="0F5C5E"/>
      </a:dk2>
      <a:lt2>
        <a:srgbClr val="EAF4F1"/>
      </a:lt2>
      <a:accent1>
        <a:srgbClr val="EF6F6C"/>
      </a:accent1>
      <a:accent2>
        <a:srgbClr val="0F8B8D"/>
      </a:accent2>
      <a:accent3>
        <a:srgbClr val="F4B942"/>
      </a:accent3>
      <a:accent4>
        <a:srgbClr val="5B8E9E"/>
      </a:accent4>
      <a:accent5>
        <a:srgbClr val="9DB4B3"/>
      </a:accent5>
      <a:accent6>
        <a:srgbClr val="2E4A52"/>
      </a:accent6>
      <a:hlink>
        <a:srgbClr val="0F8B8D"/>
      </a:hlink>
      <a:folHlink>
        <a:srgbClr val="5B8E9E"/>
      </a:folHlink>
    </a:clrScheme>
    <a:fontScheme name="CardioTea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2026-10-06T03:18:53Z</dcterms:created>
  <dcterms:modified xsi:type="dcterms:W3CDTF">2026-10-06T03:18:53Z</dcterms:modified>
</cp:coreProperties>
</file>